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Manrope Bold" charset="0"/>
      <p:regular r:id="rId17"/>
    </p:embeddedFont>
    <p:embeddedFont>
      <p:font typeface="Prata" charset="0"/>
      <p:regular r:id="rId18"/>
    </p:embeddedFont>
    <p:embeddedFont>
      <p:font typeface="Manrope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-20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B9F83-FA3D-4132-9243-84669E5DA66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D1F9E-5DDD-40B0-8A47-A3893CAC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48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7491"/>
            <a:ext cx="4722763" cy="126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Factories Generate More Data Than They Can Interpret.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96119" y="1867570"/>
            <a:ext cx="4722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Inspection Data → Defect Types → Machines → Batches → Shifts → Process Parameters → Timestamps   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2434679"/>
            <a:ext cx="2297013" cy="1191816"/>
          </a:xfrm>
          <a:prstGeom prst="roundRect">
            <a:avLst>
              <a:gd name="adj" fmla="val 1701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631180" y="2569741"/>
            <a:ext cx="20268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1180" y="2858095"/>
            <a:ext cx="2026890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analysis fragments signals across reports and misses multi-factor patterns.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1868" y="2434679"/>
            <a:ext cx="2297013" cy="1191816"/>
          </a:xfrm>
          <a:prstGeom prst="roundRect">
            <a:avLst>
              <a:gd name="adj" fmla="val 1701"/>
            </a:avLst>
          </a:prstGeom>
          <a:solidFill>
            <a:srgbClr val="404245"/>
          </a:solidFill>
          <a:ln/>
        </p:spPr>
      </p:sp>
      <p:sp>
        <p:nvSpPr>
          <p:cNvPr id="9" name="Text 6"/>
          <p:cNvSpPr/>
          <p:nvPr/>
        </p:nvSpPr>
        <p:spPr>
          <a:xfrm>
            <a:off x="3056930" y="2569741"/>
            <a:ext cx="20268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Observed consequence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56930" y="2858095"/>
            <a:ext cx="2026890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Delayed detection, reactive fixes, and unclear investigative starting points.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6119" y="3755231"/>
            <a:ext cx="4722763" cy="980703"/>
          </a:xfrm>
          <a:prstGeom prst="roundRect">
            <a:avLst>
              <a:gd name="adj" fmla="val 2067"/>
            </a:avLst>
          </a:prstGeom>
          <a:solidFill>
            <a:srgbClr val="404245"/>
          </a:solidFill>
          <a:ln/>
        </p:spPr>
      </p:sp>
      <p:sp>
        <p:nvSpPr>
          <p:cNvPr id="12" name="Text 9"/>
          <p:cNvSpPr/>
          <p:nvPr/>
        </p:nvSpPr>
        <p:spPr>
          <a:xfrm>
            <a:off x="631180" y="3890293"/>
            <a:ext cx="44526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 insight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1180" y="4178647"/>
            <a:ext cx="44526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problem isn't lack of data — it's the inability to turn data into evidence-backed action.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76088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Meet the Manufacturing Defect Pattern Analyzer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5945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An AI-powered manufacturing quality intelligence platform that transforms inspection data into explainable insights.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472556"/>
            <a:ext cx="472276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Analyzes machine, batch, shift, defect type, time, and process variables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Prioritizes patterns for investigation and generates actionable reports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588841"/>
            <a:ext cx="4722763" cy="793775"/>
          </a:xfrm>
          <a:prstGeom prst="roundRect">
            <a:avLst>
              <a:gd name="adj" fmla="val 2679"/>
            </a:avLst>
          </a:prstGeom>
          <a:solidFill>
            <a:srgbClr val="5F342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877" y="3789611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5816" y="3766021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“We transform inspection data into explainable manufacturing insights.”</a:t>
            </a:r>
            <a:endParaRPr lang="en-US" sz="11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99989" cy="5098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95746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One Dashboard. The Entire Defect Story.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1573932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Decision-makers move from overview to investigation without manually combining multiple reports.   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2171328"/>
            <a:ext cx="2292697" cy="1060475"/>
          </a:xfrm>
          <a:prstGeom prst="roundRect">
            <a:avLst>
              <a:gd name="adj" fmla="val 1974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4695" y="2329904"/>
            <a:ext cx="19755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Defect Rate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4695" y="2630314"/>
            <a:ext cx="19755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High-level trend and recent change indicators.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6184" y="2171328"/>
            <a:ext cx="2292697" cy="1060475"/>
          </a:xfrm>
          <a:prstGeom prst="roundRect">
            <a:avLst>
              <a:gd name="adj" fmla="val 1974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84761" y="2329904"/>
            <a:ext cx="19755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Defect Distribution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84761" y="2630314"/>
            <a:ext cx="19755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Breakdown by defect type, machine, and batch.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6119" y="3369171"/>
            <a:ext cx="2292697" cy="1278508"/>
          </a:xfrm>
          <a:prstGeom prst="roundRect">
            <a:avLst>
              <a:gd name="adj" fmla="val 1637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4695" y="3527747"/>
            <a:ext cx="1975545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Machine / Batch Signals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4695" y="4046190"/>
            <a:ext cx="19755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Signals that suggest recurring or concentrated issues.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926184" y="3369171"/>
            <a:ext cx="2292697" cy="1278508"/>
          </a:xfrm>
          <a:prstGeom prst="roundRect">
            <a:avLst>
              <a:gd name="adj" fmla="val 1637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84761" y="3527747"/>
            <a:ext cx="19755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Risk Indicators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084761" y="3828157"/>
            <a:ext cx="19755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Flagged patterns that require engineering validation.</a:t>
            </a:r>
            <a:endParaRPr lang="en-US" sz="105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008" y="48444"/>
            <a:ext cx="3808991" cy="5095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39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 Don't Just Show Defects. We Find Patterns.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599435" y="1241301"/>
            <a:ext cx="3053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Example pattern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599435" y="1604516"/>
            <a:ext cx="305313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Machine + Shift + Process Condition</a:t>
            </a: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Elevated defect rate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99435" y="2253035"/>
            <a:ext cx="3053135" cy="19050"/>
          </a:xfrm>
          <a:prstGeom prst="roundRect">
            <a:avLst>
              <a:gd name="adj" fmla="val 50000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599435" y="2466975"/>
            <a:ext cx="305313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The system searches for recurring combinations across dimensions instead of analyzing each variable independently.       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99435" y="3306887"/>
            <a:ext cx="3053135" cy="1233190"/>
          </a:xfrm>
          <a:prstGeom prst="roundRect">
            <a:avLst>
              <a:gd name="adj" fmla="val 1724"/>
            </a:avLst>
          </a:prstGeom>
          <a:solidFill>
            <a:srgbClr val="5F342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194" y="3526706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60132" y="3469853"/>
            <a:ext cx="24506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Patterns are highlighted when supported by evidence in the observed dataset — requires process validation.</a:t>
            </a:r>
            <a:endParaRPr lang="en-US" sz="11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82" y="954650"/>
            <a:ext cx="4622232" cy="3705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626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Where AI Meets Manufacturing Analytics</a:t>
            </a:r>
            <a:endParaRPr lang="en-US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73967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2867184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Pattern Detect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298181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286718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Trend Analysis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298181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Eng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298181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Prep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3748236"/>
            <a:ext cx="860896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AI discovers candidate patterns and quantifies supporting evidence; engineering judgment and validation determine causal claims.   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96119" y="3891781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496119" y="4013969"/>
            <a:ext cx="2006129" cy="9525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2" name="Text 9"/>
          <p:cNvSpPr/>
          <p:nvPr/>
        </p:nvSpPr>
        <p:spPr>
          <a:xfrm>
            <a:off x="496119" y="4071714"/>
            <a:ext cx="200612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1. Data Preparation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6119" y="4218161"/>
            <a:ext cx="2006129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Clean, timestamp-align, and validate inspection records and process telemetry.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544589" y="3891781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2544589" y="4013969"/>
            <a:ext cx="2006203" cy="9525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6" name="Text 13"/>
          <p:cNvSpPr/>
          <p:nvPr/>
        </p:nvSpPr>
        <p:spPr>
          <a:xfrm>
            <a:off x="2544589" y="4071714"/>
            <a:ext cx="200620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2. Feature Engineering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544589" y="4218161"/>
            <a:ext cx="2006203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Encode machine, batch, shift, defect type, and process variables for analysis.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593134" y="3891781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4593134" y="4013969"/>
            <a:ext cx="2006203" cy="9525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0" name="Text 17"/>
          <p:cNvSpPr/>
          <p:nvPr/>
        </p:nvSpPr>
        <p:spPr>
          <a:xfrm>
            <a:off x="4593134" y="4071714"/>
            <a:ext cx="200620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3. Clustering &amp; Trend Analysis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93134" y="4218161"/>
            <a:ext cx="2006203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 similar defect behaviors and surface trending shifts over time.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641678" y="3891781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04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6641678" y="4013969"/>
            <a:ext cx="2006203" cy="9525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4" name="Text 21"/>
          <p:cNvSpPr/>
          <p:nvPr/>
        </p:nvSpPr>
        <p:spPr>
          <a:xfrm>
            <a:off x="6641678" y="4071714"/>
            <a:ext cx="200620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4. Evidence Validation → Action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641678" y="4218161"/>
            <a:ext cx="2006203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Score pattern support in the dataset and translate into prioritized checks for engineers.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496119" y="4515743"/>
            <a:ext cx="8151763" cy="215057"/>
          </a:xfrm>
          <a:prstGeom prst="roundRect">
            <a:avLst>
              <a:gd name="adj" fmla="val 5408"/>
            </a:avLst>
          </a:prstGeom>
          <a:solidFill>
            <a:srgbClr val="5F3420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84" y="4577432"/>
            <a:ext cx="96887" cy="7746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47936" y="4577432"/>
            <a:ext cx="8279681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is used to discover patterns — not to replace engineering judgment.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3628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From “What Defects?” to “Where Do They Concentrate?”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96119" y="3511228"/>
            <a:ext cx="253796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Machine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119" y="3717578"/>
            <a:ext cx="253796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machines show unusual or elevated defect behavior?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3265810" y="3511228"/>
            <a:ext cx="253796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Shift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265810" y="3717578"/>
            <a:ext cx="253796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defect behavior vary across production shifts? Analysis is at the shift level only.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6035501" y="3595018"/>
            <a:ext cx="262175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Batch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6035501" y="3801368"/>
            <a:ext cx="307895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batches show recurring or abnormal defect patterns?</a:t>
            </a:r>
            <a:endParaRPr lang="en-US" sz="700" dirty="0"/>
          </a:p>
        </p:txBody>
      </p:sp>
      <p:sp>
        <p:nvSpPr>
          <p:cNvPr id="12" name="Shape 7"/>
          <p:cNvSpPr/>
          <p:nvPr/>
        </p:nvSpPr>
        <p:spPr>
          <a:xfrm>
            <a:off x="496119" y="4110856"/>
            <a:ext cx="8151763" cy="9525"/>
          </a:xfrm>
          <a:prstGeom prst="roundRect">
            <a:avLst>
              <a:gd name="adj" fmla="val 50000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496119" y="4212282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MACHINE × SHIFT × BATCH — Multi-dimensional investigation surfaces concentrated patterns for prioritized review.   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96119" y="4404196"/>
            <a:ext cx="8151763" cy="285601"/>
          </a:xfrm>
          <a:prstGeom prst="roundRect">
            <a:avLst>
              <a:gd name="adj" fmla="val 4886"/>
            </a:avLst>
          </a:prstGeom>
          <a:solidFill>
            <a:srgbClr val="022349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36" y="4492749"/>
            <a:ext cx="116235" cy="930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8388" y="4488433"/>
            <a:ext cx="821367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Analysis is performed at process/shift level — never as worker-level performance scoring.</a:t>
            </a:r>
            <a:endParaRPr lang="en-US" sz="7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79" y="1027943"/>
            <a:ext cx="2742106" cy="24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854" y="1027943"/>
            <a:ext cx="2900647" cy="24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08" y="1027943"/>
            <a:ext cx="2786491" cy="24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92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Detect the Change Before It Becomes the Problem.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701034" y="943794"/>
            <a:ext cx="3951610" cy="263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NORMAL → PATTERN CHANGES → ANOMALY DETECTED → INVESTIGATE → PROCESS CHECK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701034" y="3653507"/>
            <a:ext cx="3951610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The system highlights unusual changes in defect behavior so engineers can investigate earlier. Flags are based on observed deviation patterns and require engineering follow-up.       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701034" y="4156025"/>
            <a:ext cx="3951610" cy="462707"/>
          </a:xfrm>
          <a:prstGeom prst="roundRect">
            <a:avLst>
              <a:gd name="adj" fmla="val 3303"/>
            </a:avLst>
          </a:prstGeom>
          <a:solidFill>
            <a:srgbClr val="5F342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907" y="4275088"/>
            <a:ext cx="127322" cy="1018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32102" y="4247331"/>
            <a:ext cx="351866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Don't wait for the defect rate to become critical — surface changes for investigation.</a:t>
            </a:r>
            <a:endParaRPr lang="en-US" sz="800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15" y="860819"/>
            <a:ext cx="4202605" cy="3757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74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Every Highlighted Pattern Needs Evidence.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02494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549287" y="152906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6816" y="1551161"/>
            <a:ext cx="140218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❌</a:t>
            </a: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WRONG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56816" y="1919139"/>
            <a:ext cx="14021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“High Temperature Causes Defects” — an unsupported causal claim.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36180" y="1502494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8" name="Text 6"/>
          <p:cNvSpPr/>
          <p:nvPr/>
        </p:nvSpPr>
        <p:spPr>
          <a:xfrm>
            <a:off x="2589349" y="152906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996878" y="1551161"/>
            <a:ext cx="1402184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✅</a:t>
            </a: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OUR APPROACH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96878" y="2140595"/>
            <a:ext cx="140218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“Higher temperature was associated with elevated defect rates in the observed data.”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148478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Evidence Framework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49701" y="1847999"/>
            <a:ext cx="390294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Observed Pattern — description from dataset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Supporting Data — counts, time windows, and comparison groups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Comparison — baseline vs flagged groups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Confidence / Strength — data support metric (requires process validation)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49701" y="3517032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5F342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736851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10398" y="3679999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Correlation identifies where to investigate. Engineering validation determines causation.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Don't Stop at Detection. Recommend the Next Move.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34074" y="130028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smtClean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DETECT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734074" y="1476714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Recurring defect pattern identified from clustered behaviors.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4734074" y="2163929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EXPLAIN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663232" y="2417925"/>
            <a:ext cx="3989412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Associated machine / shift / batch / process condition (observed in data).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4658470" y="2957165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PRIORITIZE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663232" y="3224427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Rank patterns by data support and operational impact for investigation.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4663232" y="6004992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ACT</a:t>
            </a:r>
            <a:endParaRPr lang="en-US" sz="650" dirty="0"/>
          </a:p>
        </p:txBody>
      </p:sp>
      <p:sp>
        <p:nvSpPr>
          <p:cNvPr id="15" name="Text 8"/>
          <p:cNvSpPr/>
          <p:nvPr/>
        </p:nvSpPr>
        <p:spPr>
          <a:xfrm>
            <a:off x="4663232" y="6151141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 process checks, inspection focus, or recalibration steps.</a:t>
            </a:r>
            <a:endParaRPr lang="en-US" sz="5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6307038"/>
            <a:ext cx="1063228" cy="106322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663232" y="740568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VALIDATE</a:t>
            </a:r>
            <a:endParaRPr lang="en-US" sz="650" dirty="0"/>
          </a:p>
        </p:txBody>
      </p:sp>
      <p:sp>
        <p:nvSpPr>
          <p:cNvPr id="18" name="Text 10"/>
          <p:cNvSpPr/>
          <p:nvPr/>
        </p:nvSpPr>
        <p:spPr>
          <a:xfrm>
            <a:off x="4663232" y="7551837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 whether intervention changes defect behavior (requires process validation).</a:t>
            </a:r>
            <a:endParaRPr lang="en-US" sz="550" dirty="0"/>
          </a:p>
        </p:txBody>
      </p:sp>
      <p:sp>
        <p:nvSpPr>
          <p:cNvPr id="19" name="Shape 11"/>
          <p:cNvSpPr/>
          <p:nvPr/>
        </p:nvSpPr>
        <p:spPr>
          <a:xfrm>
            <a:off x="4663232" y="7676704"/>
            <a:ext cx="3989412" cy="184175"/>
          </a:xfrm>
          <a:prstGeom prst="roundRect">
            <a:avLst>
              <a:gd name="adj" fmla="val 5773"/>
            </a:avLst>
          </a:prstGeom>
          <a:solidFill>
            <a:srgbClr val="5F3420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7734523"/>
            <a:ext cx="88553" cy="7084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893469" y="7726263"/>
            <a:ext cx="414553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output is a prioritized starting point for investigation — not a final verdict.</a:t>
            </a:r>
            <a:endParaRPr lang="en-US" sz="55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01" y="751527"/>
            <a:ext cx="4323720" cy="375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58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From Data Overload to Manufacturing Intelligence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108918"/>
            <a:ext cx="3924598" cy="741090"/>
          </a:xfrm>
          <a:prstGeom prst="roundRect">
            <a:avLst>
              <a:gd name="adj" fmla="val 2511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1232892"/>
            <a:ext cx="3676650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🔎</a:t>
            </a: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DISCOVER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1539999"/>
            <a:ext cx="36766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 recurring multi-factor defect patterns.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958504"/>
            <a:ext cx="3924598" cy="741090"/>
          </a:xfrm>
          <a:prstGeom prst="roundRect">
            <a:avLst>
              <a:gd name="adj" fmla="val 2511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620092" y="2082478"/>
            <a:ext cx="3676650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📈</a:t>
            </a: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DETECT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0092" y="2389584"/>
            <a:ext cx="36766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trends and unusual changes.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2808089"/>
            <a:ext cx="3924598" cy="927125"/>
          </a:xfrm>
          <a:prstGeom prst="roundRect">
            <a:avLst>
              <a:gd name="adj" fmla="val 2007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620092" y="2932063"/>
            <a:ext cx="3676650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🧠</a:t>
            </a: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EXPLAIN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092" y="3239170"/>
            <a:ext cx="367665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 evidence-backed contributing factors (association not causation).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843710"/>
            <a:ext cx="3924598" cy="741090"/>
          </a:xfrm>
          <a:prstGeom prst="roundRect">
            <a:avLst>
              <a:gd name="adj" fmla="val 2511"/>
            </a:avLst>
          </a:prstGeom>
          <a:solidFill>
            <a:srgbClr val="40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620092" y="3967683"/>
            <a:ext cx="3676650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⚙️</a:t>
            </a: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0092" y="4274790"/>
            <a:ext cx="36766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 prioritized process checks and investigations.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28046" y="1095375"/>
            <a:ext cx="3924598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→ PATTERN → EVIDENCE → ACTION</a:t>
            </a:r>
            <a:endParaRPr lang="en-US" sz="3350" dirty="0"/>
          </a:p>
        </p:txBody>
      </p:sp>
      <p:sp>
        <p:nvSpPr>
          <p:cNvPr id="16" name="Text 14"/>
          <p:cNvSpPr/>
          <p:nvPr/>
        </p:nvSpPr>
        <p:spPr>
          <a:xfrm>
            <a:off x="4728046" y="3343424"/>
            <a:ext cx="392459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We turn manufacturing data into decisions engineers can act on. The platform emphasizes evidence, operational prioritization, and engineering validation.       </a:t>
            </a:r>
            <a:endParaRPr lang="en-US" sz="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4192637"/>
            <a:ext cx="155004" cy="1239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30998" y="4152156"/>
            <a:ext cx="38548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Manufacturing Defect Pattern Analyzer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767</Words>
  <Application>Microsoft Office PowerPoint</Application>
  <PresentationFormat>On-screen Show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Manrope Bold</vt:lpstr>
      <vt:lpstr>Prata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Sri Saketh Kaspa</cp:lastModifiedBy>
  <cp:revision>3</cp:revision>
  <dcterms:created xsi:type="dcterms:W3CDTF">2026-08-11T15:44:00Z</dcterms:created>
  <dcterms:modified xsi:type="dcterms:W3CDTF">2026-08-11T16:05:34Z</dcterms:modified>
</cp:coreProperties>
</file>